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f482b274f34bf3" /><Relationship Type="http://schemas.openxmlformats.org/officeDocument/2006/relationships/extended-properties" Target="/docProps/app.xml" Id="R3392456ff4994ab3" /><Relationship Type="http://schemas.openxmlformats.org/officeDocument/2006/relationships/officeDocument" Target="/ppt/presentation.xml" Id="R91e6c33ec02a4e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ce8064c658413e"/>
  </p:sldMasterIdLst>
  <p:notesMasterIdLst>
    <p:notesMasterId xmlns:r="http://schemas.openxmlformats.org/officeDocument/2006/relationships" r:id="Rb4136a613eee4e3d"/>
  </p:notesMasterIdLst>
  <p:sldIdLst>
    <p:sldId xmlns:r="http://schemas.openxmlformats.org/officeDocument/2006/relationships" id="256" r:id="Rfef4e6c630f84bdf"/>
    <p:sldId xmlns:r="http://schemas.openxmlformats.org/officeDocument/2006/relationships" id="257" r:id="R703afe8dbc3b4752"/>
    <p:sldId xmlns:r="http://schemas.openxmlformats.org/officeDocument/2006/relationships" id="258" r:id="Rb40a585aeeed4692"/>
    <p:sldId xmlns:r="http://schemas.openxmlformats.org/officeDocument/2006/relationships" id="259" r:id="R3de15a73224d4ee7"/>
    <p:sldId xmlns:r="http://schemas.openxmlformats.org/officeDocument/2006/relationships" id="260" r:id="Reba5a3e46c104cc8"/>
    <p:sldId xmlns:r="http://schemas.openxmlformats.org/officeDocument/2006/relationships" id="261" r:id="Rb891d31720bc4b64"/>
    <p:sldId xmlns:r="http://schemas.openxmlformats.org/officeDocument/2006/relationships" id="262" r:id="R6e3102aca21f456d"/>
    <p:sldId xmlns:r="http://schemas.openxmlformats.org/officeDocument/2006/relationships" id="263" r:id="R5d7a3bb01f5849c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5417282d484c37" /><Relationship Type="http://schemas.openxmlformats.org/officeDocument/2006/relationships/slideMaster" Target="/ppt/slideMasters/slideMaster1.xml" Id="Rbbce8064c658413e" /><Relationship Type="http://schemas.openxmlformats.org/officeDocument/2006/relationships/notesMaster" Target="/ppt/notesMasters/notesMaster1.xml" Id="Rb4136a613eee4e3d" /><Relationship Type="http://schemas.openxmlformats.org/officeDocument/2006/relationships/presProps" Target="/ppt/presProps.xml" Id="Rfa72a16c3ae94345" /><Relationship Type="http://schemas.openxmlformats.org/officeDocument/2006/relationships/viewProps" Target="/ppt/viewProps.xml" Id="R0285131ff4b44658" /><Relationship Type="http://schemas.openxmlformats.org/officeDocument/2006/relationships/tableStyles" Target="/ppt/tableStyles.xml" Id="Ra82038027aab4541" /><Relationship Type="http://schemas.openxmlformats.org/officeDocument/2006/relationships/slide" Target="/ppt/slides/slide1.xml" Id="Rfef4e6c630f84bdf" /><Relationship Type="http://schemas.openxmlformats.org/officeDocument/2006/relationships/slide" Target="/ppt/slides/slide2.xml" Id="R703afe8dbc3b4752" /><Relationship Type="http://schemas.openxmlformats.org/officeDocument/2006/relationships/slide" Target="/ppt/slides/slide3.xml" Id="Rb40a585aeeed4692" /><Relationship Type="http://schemas.openxmlformats.org/officeDocument/2006/relationships/slide" Target="/ppt/slides/slide4.xml" Id="R3de15a73224d4ee7" /><Relationship Type="http://schemas.openxmlformats.org/officeDocument/2006/relationships/slide" Target="/ppt/slides/slide5.xml" Id="Reba5a3e46c104cc8" /><Relationship Type="http://schemas.openxmlformats.org/officeDocument/2006/relationships/slide" Target="/ppt/slides/slide6.xml" Id="Rb891d31720bc4b64" /><Relationship Type="http://schemas.openxmlformats.org/officeDocument/2006/relationships/slide" Target="/ppt/slides/slide7.xml" Id="R6e3102aca21f456d" /><Relationship Type="http://schemas.openxmlformats.org/officeDocument/2006/relationships/slide" Target="/ppt/slides/slide8.xml" Id="R5d7a3bb01f5849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68efaf774b48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6b9e450def4cf5" /><Relationship Type="http://schemas.openxmlformats.org/officeDocument/2006/relationships/notesMaster" Target="/ppt/notesMasters/notesMaster1.xml" Id="R02d3aed2315b48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08084844714ded" /><Relationship Type="http://schemas.openxmlformats.org/officeDocument/2006/relationships/notesMaster" Target="/ppt/notesMasters/notesMaster1.xml" Id="R7b60b117a00d4e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df728402a64950" /><Relationship Type="http://schemas.openxmlformats.org/officeDocument/2006/relationships/notesMaster" Target="/ppt/notesMasters/notesMaster1.xml" Id="R3c426aa1a80440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b82901511641df" /><Relationship Type="http://schemas.openxmlformats.org/officeDocument/2006/relationships/notesMaster" Target="/ppt/notesMasters/notesMaster1.xml" Id="Rae3b64d9312549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29ea59d44f441a" /><Relationship Type="http://schemas.openxmlformats.org/officeDocument/2006/relationships/notesMaster" Target="/ppt/notesMasters/notesMaster1.xml" Id="Rdee882e6ef2848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0c3eca24ec468d" /><Relationship Type="http://schemas.openxmlformats.org/officeDocument/2006/relationships/notesMaster" Target="/ppt/notesMasters/notesMaster1.xml" Id="R5d2f4f52417346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48c8ec2b954c95" /><Relationship Type="http://schemas.openxmlformats.org/officeDocument/2006/relationships/notesMaster" Target="/ppt/notesMasters/notesMaster1.xml" Id="Rcf5bef6ddd6345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691298d8554693" /><Relationship Type="http://schemas.openxmlformats.org/officeDocument/2006/relationships/notesMaster" Target="/ppt/notesMasters/notesMaster1.xml" Id="R0f5608dbfe6a4a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1b0fa070d344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6fa576c2ca41a8" /><Relationship Type="http://schemas.openxmlformats.org/officeDocument/2006/relationships/slideLayout" Target="/ppt/slideLayouts/slideLayout1.xml" Id="Rdc8d0344721549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8d0344721549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34c08d8b34484" /><Relationship Type="http://schemas.openxmlformats.org/officeDocument/2006/relationships/notesSlide" Target="/ppt/notesSlides/notesSlide1.xml" Id="Rf61455793f9b42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bc7ce657c4b87" /><Relationship Type="http://schemas.openxmlformats.org/officeDocument/2006/relationships/notesSlide" Target="/ppt/notesSlides/notesSlide2.xml" Id="R6c29e73086574d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c9287b0de443f" /><Relationship Type="http://schemas.openxmlformats.org/officeDocument/2006/relationships/notesSlide" Target="/ppt/notesSlides/notesSlide3.xml" Id="R66d9570e208044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8718d336a474e" /><Relationship Type="http://schemas.openxmlformats.org/officeDocument/2006/relationships/notesSlide" Target="/ppt/notesSlides/notesSlide4.xml" Id="Ra14af86d091e42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f0fde8bbb485c" /><Relationship Type="http://schemas.openxmlformats.org/officeDocument/2006/relationships/notesSlide" Target="/ppt/notesSlides/notesSlide5.xml" Id="Rc07908ef17c544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e315981cd43b4" /><Relationship Type="http://schemas.openxmlformats.org/officeDocument/2006/relationships/notesSlide" Target="/ppt/notesSlides/notesSlide6.xml" Id="Reeec8140b94042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81f4f0ec647b5" /><Relationship Type="http://schemas.openxmlformats.org/officeDocument/2006/relationships/notesSlide" Target="/ppt/notesSlides/notesSlide7.xml" Id="R8a6ae96c864b4f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3079c7c544983" /><Relationship Type="http://schemas.openxmlformats.org/officeDocument/2006/relationships/notesSlide" Target="/ppt/notesSlides/notesSlide8.xml" Id="Rc92ed23614d64ec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F07EF4-E51E-46FF-B371-D63375D3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6C789-F97C-403B-B83F-027065BC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"/>
            <a:ext cx="113157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534C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6FCF4-9AD5-4A3A-B24A-D209DC52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1"/>
          </a:solidFill>
          <a:ln xmlns:a="http://schemas.openxmlformats.org/drawingml/2006/main" w="11430">
            <a:solidFill>
              <a:srgbClr val="EDE7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C8671-8074-4D92-850C-0195B965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769620"/>
            <a:ext cx="4572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C4454-FF94-48F8-B6BD-871FFB39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838200"/>
            <a:ext cx="36576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7DFD8-C0E4-49A5-B679-07714B64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108966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1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239B5-1DB6-40C5-BEF9-D548CE4D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963930"/>
            <a:ext cx="24003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3F4F7-D496-4684-9501-8C8D2641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858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AFAF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AFAF7"/>
                </a:solidFill>
                <a:latin typeface="Georgia"/>
                <a:ea typeface="Georgia"/>
                <a:cs typeface="Georgia"/>
              </a:rPr>
              <a:t>Tacive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09A5D-FEBF-4238-821C-782D185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66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A0C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EA0C5"/>
                </a:solidFill>
                <a:latin typeface="Consolas"/>
                <a:ea typeface="Consolas"/>
                <a:cs typeface="Consolas"/>
              </a:rPr>
              <a:t>GTM LAUNCH DECK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A182F-2CBD-4143-8E83-FD471415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8096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AFAF7"/>
                </a:solidFill>
                <a:latin typeface="Georgia"/>
                <a:ea typeface="Georgia"/>
                <a:cs typeface="Georgia"/>
              </a:defRPr>
            </a:pPr>
            <a:r>
              <a:rPr sz="4500" b="1">
                <a:solidFill>
                  <a:srgbClr val="FAFAF7"/>
                </a:solidFill>
                <a:latin typeface="Georgia"/>
                <a:ea typeface="Georgia"/>
                <a:cs typeface="Georgia"/>
              </a:rPr>
              <a:t>Tacive GTM launch deck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EA87F-D176-4154-B2DA-59A27573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DE7D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DE7DA"/>
                </a:solidFill>
                <a:latin typeface="Aptos"/>
                <a:ea typeface="Aptos"/>
                <a:cs typeface="Aptos"/>
              </a:rPr>
              <a:t>A proof-led founder validation motion: one WBG roadmap question becomes one evidence-backed Judgment Object.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7E30D-3989-48C9-99D2-5738134A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28B30-135A-43E2-A283-5A98B273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DF8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FFFDF8"/>
                </a:solidFill>
                <a:latin typeface="Consolas"/>
                <a:ea typeface="Consolas"/>
                <a:cs typeface="Consolas"/>
              </a:rPr>
              <a:t>T1 ACTIVE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D87FF-101A-4D26-A21A-375EE1D3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338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7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F1CC74-42FF-4255-9977-AD290D1E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005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DF8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FFFDF8"/>
                </a:solidFill>
                <a:latin typeface="Consolas"/>
                <a:ea typeface="Consolas"/>
                <a:cs typeface="Consolas"/>
              </a:rPr>
              <a:t>T2/T3 GATED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BCEF5-4A97-4A94-B93F-2655A10B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3387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5E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D0381-9BB8-44E8-BE86-E5075F88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DF8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FFFDF8"/>
                </a:solidFill>
                <a:latin typeface="Consolas"/>
                <a:ea typeface="Consolas"/>
                <a:cs typeface="Consolas"/>
              </a:rPr>
              <a:t>NO BROAD AUTOMATION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45335F-BD30-46D1-B105-85FF2B97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7155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DE7D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DE7DA"/>
                </a:solidFill>
                <a:latin typeface="Aptos"/>
                <a:ea typeface="Aptos"/>
                <a:cs typeface="Aptos"/>
              </a:rPr>
              <a:t>For trusted buyer validation, warm intros, and first proof-review conversations.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69BBC-4DDA-474D-8698-2AF2800F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FA58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AFA58F"/>
                </a:solidFill>
                <a:latin typeface="Consolas"/>
                <a:ea typeface="Consolas"/>
                <a:cs typeface="Consolas"/>
              </a:rPr>
              <a:t>C39 Launch Deck v1 / 01</a:t>
            </a:r>
          </a:p>
        </p:txBody>
      </p:sp>
    </p:spTree>
    <p:extLst>
      <p:ext uri="{BB962C8B-B14F-4D97-AF65-F5344CB8AC3E}">
        <p14:creationId xmlns:p14="http://schemas.microsoft.com/office/powerpoint/2010/main" val="10757637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D506AD-60FD-4B05-A0AC-27D67246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CBC14-6F79-4D9E-92BF-C4AC1318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"/>
            <a:ext cx="113157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0B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FD924-8CFC-4AA6-9F0F-E6CA588E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1430">
            <a:solidFill>
              <a:srgbClr val="D8D0B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CC16D-427C-4306-AADC-D9EE8176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769620"/>
            <a:ext cx="4572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CAC1C-9A35-4EB2-8A1A-0A308C6C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838200"/>
            <a:ext cx="36576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815E5-5ADB-4875-BCDA-BDBF6249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108966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5E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A9BFA-C5B1-48EC-88C2-3A8C4D99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963930"/>
            <a:ext cx="24003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69D5A-6032-48A6-B299-8482539B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858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511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51511"/>
                </a:solidFill>
                <a:latin typeface="Georgia"/>
                <a:ea typeface="Georgia"/>
                <a:cs typeface="Georgia"/>
              </a:rPr>
              <a:t>Tacive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D2CD0-B6AF-4FD1-8DA9-68BFBD28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66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5E8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F5E8B"/>
                </a:solidFill>
                <a:latin typeface="Consolas"/>
                <a:ea typeface="Consolas"/>
                <a:cs typeface="Consolas"/>
              </a:rPr>
              <a:t>GTM LAUNCH DECK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C48FC-D263-4C68-8335-62779164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096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1511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151511"/>
                </a:solidFill>
                <a:latin typeface="Georgia"/>
                <a:ea typeface="Georgia"/>
                <a:cs typeface="Georgia"/>
              </a:rPr>
              <a:t>The buyer problem is not another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EEC7B-E553-430F-B247-D3FB1DF6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6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463D"/>
                </a:solidFill>
                <a:latin typeface="Aptos"/>
                <a:ea typeface="Aptos"/>
                <a:cs typeface="Aptos"/>
              </a:rPr>
              <a:t>WBG roadmap decisions usually need a bounded judgment, a public evidence trail, a boundary, and a counter-signal before a broader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772DD-FF1E-4A91-A084-96274541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9620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915F5-6D1A-4215-8CFA-602FD845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0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7EC1BC-A98A-49B5-BFAB-FAFD86D7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FF8CC-7AAA-4D0D-8495-928498D9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Strategy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336AA-4FE8-426F-BF9E-EC243194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2457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A46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A463D"/>
                </a:solidFill>
                <a:latin typeface="Aptos"/>
                <a:ea typeface="Aptos"/>
                <a:cs typeface="Aptos"/>
              </a:rPr>
              <a:t>Which supplier or architecture signal matters before the next roadmap decision?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B72A5-0870-4C5C-9315-0CB380A6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0B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8E8FE-FA88-4A45-9622-EE3A953F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7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D6164-2F92-447F-9DB8-B42B67D3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8625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Product 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123073-96F5-405C-B342-613F0690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2457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A46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A463D"/>
                </a:solidFill>
                <a:latin typeface="Aptos"/>
                <a:ea typeface="Aptos"/>
                <a:cs typeface="Aptos"/>
              </a:rPr>
              <a:t>What can be defended from public evidence without over-reading private qualification signals?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F1380E-9B02-4273-A0CF-1B1EF0B6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957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0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D6E9B7-E9E3-43C7-9A5D-AC5FF9BB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95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5E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198840-E668-4383-9ECF-AE4B06EA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8625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Diligence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559565-BEC3-414D-AD3E-8910029E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29150"/>
            <a:ext cx="2457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A46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A463D"/>
                </a:solidFill>
                <a:latin typeface="Aptos"/>
                <a:ea typeface="Aptos"/>
                <a:cs typeface="Aptos"/>
              </a:rPr>
              <a:t>What needs to be checked before deeper reports, expert calls, or investment work?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9C68CE-AD6E-4B5E-9A21-3FC84382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262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262"/>
                </a:solidFill>
                <a:latin typeface="Consolas"/>
                <a:ea typeface="Consolas"/>
                <a:cs typeface="Consolas"/>
              </a:rPr>
              <a:t>C39 Launch Deck v1 / 02</a:t>
            </a:r>
          </a:p>
        </p:txBody>
      </p:sp>
    </p:spTree>
    <p:extLst>
      <p:ext uri="{BB962C8B-B14F-4D97-AF65-F5344CB8AC3E}">
        <p14:creationId xmlns:p14="http://schemas.microsoft.com/office/powerpoint/2010/main" val="13957254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1863DE-7FE5-4E7C-B6F0-DA673E4B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6827A-4FBC-459F-8581-AA4C25A4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"/>
            <a:ext cx="113157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0B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715A4-CCDC-440C-9B4B-538C3E7F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1430">
            <a:solidFill>
              <a:srgbClr val="D8D0B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F2FA0-4AAC-4BE8-962C-923B84A1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769620"/>
            <a:ext cx="4572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4E1E0-A519-4CE3-962C-74D38869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838200"/>
            <a:ext cx="36576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0F844-D64F-48FF-9972-4AF015FA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108966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5E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83AF0-5648-43B2-A2A4-CDBB4E36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963930"/>
            <a:ext cx="24003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BCAA1-C9F5-4685-B822-61B28A03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858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511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51511"/>
                </a:solidFill>
                <a:latin typeface="Georgia"/>
                <a:ea typeface="Georgia"/>
                <a:cs typeface="Georgia"/>
              </a:rPr>
              <a:t>Tacive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A7583-80AF-4EDF-84B4-31424146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66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5E8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F5E8B"/>
                </a:solidFill>
                <a:latin typeface="Consolas"/>
                <a:ea typeface="Consolas"/>
                <a:cs typeface="Consolas"/>
              </a:rPr>
              <a:t>GTM LAUNCH DECK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F5F88-3F11-40A9-BDD9-0D124B8F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8096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511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51511"/>
                </a:solidFill>
                <a:latin typeface="Georgia"/>
                <a:ea typeface="Georgia"/>
                <a:cs typeface="Georgia"/>
              </a:rPr>
              <a:t>The proof object is intentionally smaller than a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FE540-2751-4512-91ED-31635823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E8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F5E8B"/>
                </a:solidFill>
                <a:latin typeface="Georgia"/>
                <a:ea typeface="Georgia"/>
                <a:cs typeface="Georgia"/>
              </a:rPr>
              <a:t>Statement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FF881-0734-428C-84B0-671C72D3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581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511"/>
                </a:solidFill>
                <a:latin typeface="Aptos"/>
                <a:ea typeface="Aptos"/>
                <a:cs typeface="Aptos"/>
              </a:rPr>
              <a:t>One customer-safe judgment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9C32D-5EF0-4094-A55E-D8FE4E05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14700"/>
            <a:ext cx="8572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5C8EE-4A63-4073-87F4-0F4710D7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814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E8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F5E8B"/>
                </a:solidFill>
                <a:latin typeface="Georgia"/>
                <a:ea typeface="Georgia"/>
                <a:cs typeface="Georgia"/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ABFF4-8299-4605-BCA3-663D7741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81400"/>
            <a:ext cx="581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511"/>
                </a:solidFill>
                <a:latin typeface="Aptos"/>
                <a:ea typeface="Aptos"/>
                <a:cs typeface="Aptos"/>
              </a:rPr>
              <a:t>Public source anchors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80B71D-5909-4B7F-86CC-9DF31825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38600"/>
            <a:ext cx="8572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6AF8C8-5B0C-42DD-94ED-69AC34AC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E8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F5E8B"/>
                </a:solidFill>
                <a:latin typeface="Georgia"/>
                <a:ea typeface="Georgia"/>
                <a:cs typeface="Georgia"/>
              </a:rPr>
              <a:t>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2E9EF-F2CB-4F70-B91D-499CD91C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05300"/>
            <a:ext cx="581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511"/>
                </a:solidFill>
                <a:latin typeface="Aptos"/>
                <a:ea typeface="Aptos"/>
                <a:cs typeface="Aptos"/>
              </a:rPr>
              <a:t>Where the claim stops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7A83AE-CBDC-4A75-A6BA-F1F89B4A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8572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B6417A-C322-45CB-BB52-8970416C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292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E8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F5E8B"/>
                </a:solidFill>
                <a:latin typeface="Georgia"/>
                <a:ea typeface="Georgia"/>
                <a:cs typeface="Georgia"/>
              </a:rPr>
              <a:t>Counter-signal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5057B-E662-47E2-849F-8E1B935D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29200"/>
            <a:ext cx="581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511"/>
                </a:solidFill>
                <a:latin typeface="Aptos"/>
                <a:ea typeface="Aptos"/>
                <a:cs typeface="Aptos"/>
              </a:rPr>
              <a:t>What could overturn 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F44C6C-2B96-4260-950E-119A215A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86400"/>
            <a:ext cx="8572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C6D4B2-2D8C-4283-8EB8-F6F80D64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531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E8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F5E8B"/>
                </a:solidFill>
                <a:latin typeface="Georgia"/>
                <a:ea typeface="Georgia"/>
                <a:cs typeface="Georgia"/>
              </a:rPr>
              <a:t>Version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2419EA-188E-4E46-B0C5-AABF358D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53100"/>
            <a:ext cx="581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511"/>
                </a:solidFill>
                <a:latin typeface="Aptos"/>
                <a:ea typeface="Aptos"/>
                <a:cs typeface="Aptos"/>
              </a:rPr>
              <a:t>Maintainer and reverify trigger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94BC2A-3367-4850-9140-D618EF37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10300"/>
            <a:ext cx="8572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FB772A-E0BF-440D-BD93-ADF5BF55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12573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9221DE-812D-4749-BBCC-683607C7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4325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AFAF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AFAF7"/>
                </a:solidFill>
                <a:latin typeface="Consolas"/>
                <a:ea typeface="Consolas"/>
                <a:cs typeface="Consolas"/>
              </a:rPr>
              <a:t>JUDGMENT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2CB021-607D-415E-BBB8-97C6BAFA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1475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AFAF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AFAF7"/>
                </a:solidFill>
                <a:latin typeface="Consolas"/>
                <a:ea typeface="Consolas"/>
                <a:cs typeface="Consolas"/>
              </a:rPr>
              <a:t>OBJECT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85578F-B944-4093-B03F-D331BD82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62350"/>
            <a:ext cx="800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51288A-CA33-4466-A222-4D21E59D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262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262"/>
                </a:solidFill>
                <a:latin typeface="Consolas"/>
                <a:ea typeface="Consolas"/>
                <a:cs typeface="Consolas"/>
              </a:rPr>
              <a:t>C39 Launch Deck v1 / 03</a:t>
            </a:r>
          </a:p>
        </p:txBody>
      </p:sp>
    </p:spTree>
    <p:extLst>
      <p:ext uri="{BB962C8B-B14F-4D97-AF65-F5344CB8AC3E}">
        <p14:creationId xmlns:p14="http://schemas.microsoft.com/office/powerpoint/2010/main" val="8699989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79CB0D-593C-4B34-8DFF-192027A7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8135C-DF44-4C6D-BF08-B7829454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"/>
            <a:ext cx="113157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0B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A1A86-92FC-4D7B-85CC-E9C953CE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1430">
            <a:solidFill>
              <a:srgbClr val="D8D0B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08215-17BC-49C5-9D47-D2CF40A7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769620"/>
            <a:ext cx="4572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0B48C-AE85-4339-A672-BAC1AA6F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838200"/>
            <a:ext cx="36576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F9F69-346C-4F16-B7BF-4260EE9E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108966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5E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0B41C-E13D-4B94-82B6-D0B5580B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963930"/>
            <a:ext cx="24003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14E7B-E025-45CA-9384-90A5FE17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858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511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51511"/>
                </a:solidFill>
                <a:latin typeface="Georgia"/>
                <a:ea typeface="Georgia"/>
                <a:cs typeface="Georgia"/>
              </a:rPr>
              <a:t>Tacive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03B6D-5D41-42CE-ADE3-5FA9EC2F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66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5E8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F5E8B"/>
                </a:solidFill>
                <a:latin typeface="Consolas"/>
                <a:ea typeface="Consolas"/>
                <a:cs typeface="Consolas"/>
              </a:rPr>
              <a:t>GTM LAUNCH DECK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787DE-3047-4B2E-B68B-22B4897E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096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1511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151511"/>
                </a:solidFill>
                <a:latin typeface="Georgia"/>
                <a:ea typeface="Georgia"/>
                <a:cs typeface="Georgia"/>
              </a:rPr>
              <a:t>Offer boundary: sell T1, scope T2/T3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55DDE-2B4D-431F-AD51-984D496F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6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463D"/>
                </a:solidFill>
                <a:latin typeface="Aptos"/>
                <a:ea typeface="Aptos"/>
                <a:cs typeface="Aptos"/>
              </a:rPr>
              <a:t>Commercial credibility depends on not turning gated access into a sales claim.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97736-A27B-4391-97EE-F62AFEE8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3000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0B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E1200-E1C9-494E-B73A-7165B7B5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54AB5-E738-4E04-AE47-9093F86A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600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T1 active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428FF3-639A-4049-97BF-2F237EFD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26003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A46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A463D"/>
                </a:solidFill>
                <a:latin typeface="Aptos"/>
                <a:ea typeface="Aptos"/>
                <a:cs typeface="Aptos"/>
              </a:rPr>
              <a:t>Single Judgment Pull: one bounded WBG roadmap question becomes one customer-safe Judgment Object.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74C8D2-9981-4105-818F-40A82207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14750"/>
            <a:ext cx="3000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0B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BE2F0-C7A2-4A62-9550-31E8F49D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147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7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7D2CB6-A61F-4A6C-8ED7-606409B0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05250"/>
            <a:ext cx="2600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T2 gated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8B4B7-3F7E-441F-8AF8-0C485E7D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48150"/>
            <a:ext cx="26003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A46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A463D"/>
                </a:solidFill>
                <a:latin typeface="Aptos"/>
                <a:ea typeface="Aptos"/>
                <a:cs typeface="Aptos"/>
              </a:rPr>
              <a:t>WBG Intelligence can be walked through and scoped, but access is gated until customer/guest checks pass.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2B37E5-5319-483D-8498-68452F38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14750"/>
            <a:ext cx="3000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0B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196017-EB97-4D01-BF65-6DE2A1D8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147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5E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629A06-BD63-4E58-952F-B3307C5C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05250"/>
            <a:ext cx="2600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T3 gated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F9A2D-3A4C-4298-8F09-D0A24478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48150"/>
            <a:ext cx="26003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A46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A463D"/>
                </a:solidFill>
                <a:latin typeface="Aptos"/>
                <a:ea typeface="Aptos"/>
                <a:cs typeface="Aptos"/>
              </a:rPr>
              <a:t>Enterprise rooms can be scoped for watchlists and cadence, but provisioning requires grant/revoke proof.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0C5365-97F3-4FC7-8D13-9F35CBDC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262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262"/>
                </a:solidFill>
                <a:latin typeface="Consolas"/>
                <a:ea typeface="Consolas"/>
                <a:cs typeface="Consolas"/>
              </a:rPr>
              <a:t>C39 Launch Deck v1 / 04</a:t>
            </a:r>
          </a:p>
        </p:txBody>
      </p:sp>
    </p:spTree>
    <p:extLst>
      <p:ext uri="{BB962C8B-B14F-4D97-AF65-F5344CB8AC3E}">
        <p14:creationId xmlns:p14="http://schemas.microsoft.com/office/powerpoint/2010/main" val="13898174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5CF709-ABF0-4DDF-87CA-18BC7473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18B18-AD65-43C0-9AC7-D3270A27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"/>
            <a:ext cx="113157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534C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DC9A9-C50C-40EB-BF3F-00E8C56D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1"/>
          </a:solidFill>
          <a:ln xmlns:a="http://schemas.openxmlformats.org/drawingml/2006/main" w="11430">
            <a:solidFill>
              <a:srgbClr val="EDE7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5FEC9-593B-46CC-BA11-32108279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769620"/>
            <a:ext cx="4572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578F4-266D-4D68-89BB-B2C0962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838200"/>
            <a:ext cx="36576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9F836-FFAF-43D6-819B-A21A0DCD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108966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1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5C77F-9536-48E4-BE04-47DFF5BB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963930"/>
            <a:ext cx="24003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8557C-8DF4-45CD-B60F-AC49BF3A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858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AFAF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AFAF7"/>
                </a:solidFill>
                <a:latin typeface="Georgia"/>
                <a:ea typeface="Georgia"/>
                <a:cs typeface="Georgia"/>
              </a:rPr>
              <a:t>Tacive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FD34C-4FEF-4AB3-B3C1-304E9D06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66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A0C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EA0C5"/>
                </a:solidFill>
                <a:latin typeface="Consolas"/>
                <a:ea typeface="Consolas"/>
                <a:cs typeface="Consolas"/>
              </a:rPr>
              <a:t>GTM LAUNCH DECK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D7616-5332-47F6-9FCD-2529EC3C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8096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AFAF7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FAFAF7"/>
                </a:solidFill>
                <a:latin typeface="Georgia"/>
                <a:ea typeface="Georgia"/>
                <a:cs typeface="Georgia"/>
              </a:rPr>
              <a:t>The GTM loop is manual until proof appears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476FB-FB14-4257-B272-0815BA5E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81375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1430">
            <a:solidFill>
              <a:srgbClr val="534C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415CA2-ABA0-4F6F-8B89-B65F11DD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8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F5E8B"/>
                </a:solidFill>
                <a:latin typeface="Consolas"/>
                <a:ea typeface="Consolas"/>
                <a:cs typeface="Consolas"/>
              </a:rPr>
              <a:t>D0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4CFBD-AD32-47FC-863B-84019A5C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Public proof</a:t>
            </a:r>
          </a:p>
          <a:p xmlns:a="http://schemas.openxmlformats.org/drawingml/2006/main">
            <a:pPr algn="l">
              <a:defRPr sz="13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or warm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8EB956-BDF8-4A45-BCA9-99214693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00500"/>
            <a:ext cx="4572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6C19E-7D27-4926-A543-525DF36F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81375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1430">
            <a:solidFill>
              <a:srgbClr val="534C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BF769-42B4-4E2D-8B32-EBA20300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19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8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F5E8B"/>
                </a:solidFill>
                <a:latin typeface="Consolas"/>
                <a:ea typeface="Consolas"/>
                <a:cs typeface="Consolas"/>
              </a:rPr>
              <a:t>D0-D1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C98885-BD08-4EF7-8936-85DDD3AF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005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5-7 founder</a:t>
            </a:r>
          </a:p>
          <a:p xmlns:a="http://schemas.openxmlformats.org/drawingml/2006/main">
            <a:pPr algn="l">
              <a:defRPr sz="13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162A4-165D-4829-94AA-FD960DD0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00500"/>
            <a:ext cx="4572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316D0E-9F63-4EBE-9441-CF864FAA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81375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1430">
            <a:solidFill>
              <a:srgbClr val="534C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C69251-7D35-4F86-BC4C-3F5B716A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19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8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F5E8B"/>
                </a:solidFill>
                <a:latin typeface="Consolas"/>
                <a:ea typeface="Consolas"/>
                <a:cs typeface="Consolas"/>
              </a:rPr>
              <a:t>D3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892D3C-40B1-4E40-A78B-76D3CFB7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005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One narrower</a:t>
            </a:r>
          </a:p>
          <a:p xmlns:a="http://schemas.openxmlformats.org/drawingml/2006/main">
            <a:pPr algn="l">
              <a:defRPr sz="13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follow-up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1C6592-52FA-43AF-B7D2-5C106045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00500"/>
            <a:ext cx="4572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A73A22-1452-4660-869F-F8B31F1E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1430">
            <a:solidFill>
              <a:srgbClr val="534C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BF9DF5-4398-4A5E-A4CD-BF3F42BD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8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F5E8B"/>
                </a:solidFill>
                <a:latin typeface="Consolas"/>
                <a:ea typeface="Consolas"/>
                <a:cs typeface="Consolas"/>
              </a:rPr>
              <a:t>D7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D81ABC-B46E-4EE4-8378-54CA453E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Close, route,</a:t>
            </a:r>
          </a:p>
          <a:p xmlns:a="http://schemas.openxmlformats.org/drawingml/2006/main">
            <a:pPr algn="l">
              <a:defRPr sz="13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9CFAB2-46AF-4949-8ACA-C6123952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0"/>
            <a:ext cx="4572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E359A1-1955-43BA-B9A5-AA08607C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81375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1430">
            <a:solidFill>
              <a:srgbClr val="534C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2BB62C-7B32-4512-B773-6A4D3E5B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19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8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F5E8B"/>
                </a:solidFill>
                <a:latin typeface="Consolas"/>
                <a:ea typeface="Consolas"/>
                <a:cs typeface="Consolas"/>
              </a:rPr>
              <a:t>Writeback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1B27B9-0638-450C-BF05-FDA0028B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GitHub / Notion</a:t>
            </a:r>
          </a:p>
          <a:p xmlns:a="http://schemas.openxmlformats.org/drawingml/2006/main">
            <a:pPr algn="l">
              <a:defRPr sz="13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ACFF4E-6A7B-4B85-AD78-71E0D938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838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DE7D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DE7DA"/>
                </a:solidFill>
                <a:latin typeface="Aptos"/>
                <a:ea typeface="Aptos"/>
                <a:cs typeface="Aptos"/>
              </a:rPr>
              <a:t>Scale gate: do not open the next 10-account batch until one T1-ready question or explicit blocker is logged.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F4C306-46AF-4C65-8923-82289591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FA58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AFA58F"/>
                </a:solidFill>
                <a:latin typeface="Consolas"/>
                <a:ea typeface="Consolas"/>
                <a:cs typeface="Consolas"/>
              </a:rPr>
              <a:t>C39 Launch Deck v1 / 05</a:t>
            </a:r>
          </a:p>
        </p:txBody>
      </p:sp>
    </p:spTree>
    <p:extLst>
      <p:ext uri="{BB962C8B-B14F-4D97-AF65-F5344CB8AC3E}">
        <p14:creationId xmlns:p14="http://schemas.microsoft.com/office/powerpoint/2010/main" val="13203380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904FF2-C37F-4078-92E2-DECD5F28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D66B7-10BB-4DBD-B905-B5031371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"/>
            <a:ext cx="113157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0B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2E729-E44F-4091-8709-99C5EFE2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1430">
            <a:solidFill>
              <a:srgbClr val="D8D0B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75D7C-739A-40E9-874D-3D487AA0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769620"/>
            <a:ext cx="4572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41A38-996B-4B99-A519-F0063497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838200"/>
            <a:ext cx="36576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73E09-B29A-41DF-BFD3-E04E9601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108966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5E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EABCE-6CC1-404D-A373-BE5B3644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963930"/>
            <a:ext cx="24003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EF90F-85F7-4AFB-AD1B-BC31B8C1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858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511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51511"/>
                </a:solidFill>
                <a:latin typeface="Georgia"/>
                <a:ea typeface="Georgia"/>
                <a:cs typeface="Georgia"/>
              </a:rPr>
              <a:t>Tacive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59541-ED5F-4048-B049-76393A03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66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5E8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F5E8B"/>
                </a:solidFill>
                <a:latin typeface="Consolas"/>
                <a:ea typeface="Consolas"/>
                <a:cs typeface="Consolas"/>
              </a:rPr>
              <a:t>GTM LAUNCH DECK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0EEED-CD86-4DA5-B903-F392E731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096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511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151511"/>
                </a:solidFill>
                <a:latin typeface="Georgia"/>
                <a:ea typeface="Georgia"/>
                <a:cs typeface="Georgia"/>
              </a:rPr>
              <a:t>Who should review the first proof pack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0249A-454C-475B-88F1-10DA71DC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Strategy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05FDF-7E13-4D66-9103-D9233BCB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384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A46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A463D"/>
                </a:solidFill>
                <a:latin typeface="Aptos"/>
                <a:ea typeface="Aptos"/>
                <a:cs typeface="Aptos"/>
              </a:rPr>
              <a:t>supplier-roadmap uncertainty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C38EC-35F9-44DE-98FC-D411D7C9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8858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F2C2C-E27A-4A6D-AF3D-D0C226B7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Product 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80347-818D-4D36-90DA-2CA93EE2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242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A46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A463D"/>
                </a:solidFill>
                <a:latin typeface="Aptos"/>
                <a:ea typeface="Aptos"/>
                <a:cs typeface="Aptos"/>
              </a:rPr>
              <a:t>WBG / GaN / SiC timing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E6066-8EDC-4D97-A8BF-3B5D1DB8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8858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FB0F50-5A25-4769-B8AC-1A5DCF1C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BD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A396D-93E9-4A47-B690-20428FDC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00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A46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A463D"/>
                </a:solidFill>
                <a:latin typeface="Aptos"/>
                <a:ea typeface="Aptos"/>
                <a:cs typeface="Aptos"/>
              </a:rPr>
              <a:t>partner or customer signal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75FBA-58A4-433E-BDBE-34207307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8858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EB5D55-9602-40F3-8BC0-7FDB68BE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Corporate venture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68025D-7B97-42C2-BE1C-5498CCA2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958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A46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A463D"/>
                </a:solidFill>
                <a:latin typeface="Aptos"/>
                <a:ea typeface="Aptos"/>
                <a:cs typeface="Aptos"/>
              </a:rPr>
              <a:t>diligence screen before expert calls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F96E40-9AFC-4433-AB2C-EB38AC52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95900"/>
            <a:ext cx="8858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CBE647-04B4-4EB6-A902-B3C3B8BF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Investment / diligence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4EF363-9009-4571-8B36-0FE202EA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81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A463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A463D"/>
                </a:solidFill>
                <a:latin typeface="Aptos"/>
                <a:ea typeface="Aptos"/>
                <a:cs typeface="Aptos"/>
              </a:rPr>
              <a:t>bounded thesis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19DCFE-3AC5-4874-AE11-A0792950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81700"/>
            <a:ext cx="8858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4E2A2D-EA62-4CB8-9156-17DA573C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7165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2583C0-B644-40F9-8EF4-01F1F6C0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33600"/>
            <a:ext cx="85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small</a:t>
            </a:r>
          </a:p>
          <a:p xmlns:a="http://schemas.openxmlformats.org/drawingml/2006/main">
            <a:pPr algn="ctr">
              <a:defRPr sz="180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AF5636-16E9-4753-99BA-12817A3F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262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262"/>
                </a:solidFill>
                <a:latin typeface="Consolas"/>
                <a:ea typeface="Consolas"/>
                <a:cs typeface="Consolas"/>
              </a:rPr>
              <a:t>C39 Launch Deck v1 / 06</a:t>
            </a:r>
          </a:p>
        </p:txBody>
      </p:sp>
    </p:spTree>
    <p:extLst>
      <p:ext uri="{BB962C8B-B14F-4D97-AF65-F5344CB8AC3E}">
        <p14:creationId xmlns:p14="http://schemas.microsoft.com/office/powerpoint/2010/main" val="1943578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326CBD-ED3C-46A8-A622-FFE834AE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CDE16-7C0E-4862-BEBA-71E15AC9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"/>
            <a:ext cx="113157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D8D0B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11C28-6F91-4CA4-858E-AF3497E1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1430">
            <a:solidFill>
              <a:srgbClr val="D8D0B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2C7B6-44D9-478B-8874-39A6DC8F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769620"/>
            <a:ext cx="4572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58635-D451-4087-8100-246B1E1F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838200"/>
            <a:ext cx="36576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097EB-DFA8-4792-A949-614B1D3E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108966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5E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0A046-AA31-484E-A21E-C10A7B55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963930"/>
            <a:ext cx="24003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5016A-FC16-4754-B0C1-82256E73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858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511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51511"/>
                </a:solidFill>
                <a:latin typeface="Georgia"/>
                <a:ea typeface="Georgia"/>
                <a:cs typeface="Georgia"/>
              </a:rPr>
              <a:t>Tacive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77EE4-DCA1-49CC-B2AE-253FD9D2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66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5E8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F5E8B"/>
                </a:solidFill>
                <a:latin typeface="Consolas"/>
                <a:ea typeface="Consolas"/>
                <a:cs typeface="Consolas"/>
              </a:rPr>
              <a:t>GTM LAUNCH DECK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7AB33-3388-4C51-8EE8-5D568379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096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1511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151511"/>
                </a:solidFill>
                <a:latin typeface="Georgia"/>
                <a:ea typeface="Georgia"/>
                <a:cs typeface="Georgia"/>
              </a:rPr>
              <a:t>The next ask is deliberately low-friction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A79F9-53DC-436C-83FA-F500BC95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0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82DD6-2DF1-4649-A732-0DF24772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BC41A-C12A-4F4E-B349-2A866AC6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Critique the format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BC942-EBF5-452B-B749-EB87CA47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2743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A46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A463D"/>
                </a:solidFill>
                <a:latin typeface="Aptos"/>
                <a:ea typeface="Aptos"/>
                <a:cs typeface="Aptos"/>
              </a:rPr>
              <a:t>Would this help defend one bounded WBG roadmap question faster than report review?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689A27-FFD8-40DD-966C-B426D09F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0B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93862-DB25-4CFE-B3B7-C09EE49C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7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483ECD-2C59-468F-84A4-F8DD3AFC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0480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Send one question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5096DD-3F8C-422E-B4EB-7464DD51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390900"/>
            <a:ext cx="2743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A46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A463D"/>
                </a:solidFill>
                <a:latin typeface="Aptos"/>
                <a:ea typeface="Aptos"/>
                <a:cs typeface="Aptos"/>
              </a:rPr>
              <a:t>If there is a live supplier or architecture question, route it into T1 intake.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D2AA3-270F-44A1-B322-2AD154D0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0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A4702-4636-4F95-912B-35C291E0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5E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E1425A-19A1-49DF-BFDE-76D700C9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511"/>
                </a:solidFill>
                <a:latin typeface="Aptos"/>
                <a:ea typeface="Aptos"/>
                <a:cs typeface="Aptos"/>
              </a:rPr>
              <a:t>Scope the room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4B1EDA-E209-4559-8AD7-59139AA9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2743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A46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A463D"/>
                </a:solidFill>
                <a:latin typeface="Aptos"/>
                <a:ea typeface="Aptos"/>
                <a:cs typeface="Aptos"/>
              </a:rPr>
              <a:t>If the buyer wants ongoing intelligence, log T2/T3 interest without promising access.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18EA79-E676-47F6-A8A9-820DB541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91125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511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51511"/>
                </a:solidFill>
                <a:latin typeface="Consolas"/>
                <a:ea typeface="Consolas"/>
                <a:cs typeface="Consolas"/>
              </a:rPr>
              <a:t>Proof pack: https://github-tacive-wbg-intelligence.vercel.app/en/proof-pack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4B250F-20F5-47CF-AD1D-BB0AD704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262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262"/>
                </a:solidFill>
                <a:latin typeface="Consolas"/>
                <a:ea typeface="Consolas"/>
                <a:cs typeface="Consolas"/>
              </a:rPr>
              <a:t>C39 Launch Deck v1 / 07</a:t>
            </a:r>
          </a:p>
        </p:txBody>
      </p:sp>
    </p:spTree>
    <p:extLst>
      <p:ext uri="{BB962C8B-B14F-4D97-AF65-F5344CB8AC3E}">
        <p14:creationId xmlns:p14="http://schemas.microsoft.com/office/powerpoint/2010/main" val="111407566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948C56-B6A2-4748-B9E8-922909EB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55A11-EE48-482C-A88D-EF4B684D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"/>
            <a:ext cx="113157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534C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C76C7-48BA-444D-9F6C-5EA7C516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1"/>
          </a:solidFill>
          <a:ln xmlns:a="http://schemas.openxmlformats.org/drawingml/2006/main" w="11430">
            <a:solidFill>
              <a:srgbClr val="EDE7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ACEBA-F4D8-4541-B38D-1A371CBD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769620"/>
            <a:ext cx="4572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0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0D320-BA8C-4C57-A68E-0E3F2C1B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838200"/>
            <a:ext cx="36576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8C680-B605-404B-88B5-A5C3766A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" y="1089660"/>
            <a:ext cx="914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1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FCA1B-7C18-4240-AE1E-708569D8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" y="963930"/>
            <a:ext cx="24003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6BC3C-FCD0-4D7F-B103-B74647E7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858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AFAF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AFAF7"/>
                </a:solidFill>
                <a:latin typeface="Georgia"/>
                <a:ea typeface="Georgia"/>
                <a:cs typeface="Georgia"/>
              </a:rPr>
              <a:t>Tacive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54D9B-EE70-48FC-88F6-9263B570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66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A0C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EA0C5"/>
                </a:solidFill>
                <a:latin typeface="Consolas"/>
                <a:ea typeface="Consolas"/>
                <a:cs typeface="Consolas"/>
              </a:rPr>
              <a:t>GUARDRAILS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C9157-358A-4CAD-ABBD-E70CB59A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8096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AFAF7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FAFAF7"/>
                </a:solidFill>
                <a:latin typeface="Georgia"/>
                <a:ea typeface="Georgia"/>
                <a:cs typeface="Georgia"/>
              </a:rPr>
              <a:t>Commercial credibility guardrails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34765-CA54-47D6-8E37-DE3FCAA5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DE7D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DE7DA"/>
                </a:solidFill>
                <a:latin typeface="Aptos"/>
                <a:ea typeface="Aptos"/>
                <a:cs typeface="Aptos"/>
              </a:rPr>
              <a:t>T1 is active; T2/T3 remain walkthrough or scoping.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FDAF9-98F5-4ACE-8262-F7416779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86125"/>
            <a:ext cx="8667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4C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91CA1-7259-43BA-A580-E3B225F9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DE7D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DE7DA"/>
                </a:solidFill>
                <a:latin typeface="Aptos"/>
                <a:ea typeface="Aptos"/>
                <a:cs typeface="Aptos"/>
              </a:rPr>
              <a:t>Do not promise member access or Data Room provisioning.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AB2FC-342C-4E82-BB99-CA7D94D2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8667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4C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EC143-E606-49C2-8C48-3AB15CC2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DE7D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DE7DA"/>
                </a:solidFill>
                <a:latin typeface="Aptos"/>
                <a:ea typeface="Aptos"/>
                <a:cs typeface="Aptos"/>
              </a:rPr>
              <a:t>Do not treat all W1 records as authored Judgment Objects.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A5BAE-66CA-4108-9768-DD1A7D54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95825"/>
            <a:ext cx="8667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4C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4CFCCB-465D-4DFA-97FF-C5CEB476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DE7D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DE7DA"/>
                </a:solidFill>
                <a:latin typeface="Aptos"/>
                <a:ea typeface="Aptos"/>
                <a:cs typeface="Aptos"/>
              </a:rPr>
              <a:t>Do not request confidential procurement or private design-win 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2A79EF-CCB3-449E-A54A-7A1E9305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00675"/>
            <a:ext cx="8667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4C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760990-B163-4660-992C-1734E34C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769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DE7D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DE7DA"/>
                </a:solidFill>
                <a:latin typeface="Aptos"/>
                <a:ea typeface="Aptos"/>
                <a:cs typeface="Aptos"/>
              </a:rPr>
              <a:t>Do not scale outbound before reply writeback proves a reason.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90C1B-4CBA-4C78-B401-4D45861F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05525"/>
            <a:ext cx="8667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4C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1A5B06-3900-481F-BCA9-3CAAF80A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FA58F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AFA58F"/>
                </a:solidFill>
                <a:latin typeface="Consolas"/>
                <a:ea typeface="Consolas"/>
                <a:cs typeface="Consolas"/>
              </a:rPr>
              <a:t>C39 Launch Deck v1 / 08</a:t>
            </a:r>
          </a:p>
        </p:txBody>
      </p:sp>
    </p:spTree>
    <p:extLst>
      <p:ext uri="{BB962C8B-B14F-4D97-AF65-F5344CB8AC3E}">
        <p14:creationId xmlns:p14="http://schemas.microsoft.com/office/powerpoint/2010/main" val="1891741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2026-06-04T04:01:23.9680000Z</dcterms:created>
  <dcterms:modified xsi:type="dcterms:W3CDTF">2026-06-04T04:01:23.9690000Z</dcterms:modified>
</coreProperties>
</file>